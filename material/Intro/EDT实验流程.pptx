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453" r:id="rId4"/>
    <p:sldId id="451" r:id="rId5"/>
    <p:sldId id="452" r:id="rId6"/>
    <p:sldId id="260" r:id="rId7"/>
    <p:sldId id="454" r:id="rId8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5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40A0-05DB-4EC5-8D3B-09CA125B9092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1BCCB-AFAE-4349-8F1B-DE14683B64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546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40A0-05DB-4EC5-8D3B-09CA125B9092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1BCCB-AFAE-4349-8F1B-DE14683B64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424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40A0-05DB-4EC5-8D3B-09CA125B9092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1BCCB-AFAE-4349-8F1B-DE14683B64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59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40A0-05DB-4EC5-8D3B-09CA125B9092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1BCCB-AFAE-4349-8F1B-DE14683B64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080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40A0-05DB-4EC5-8D3B-09CA125B9092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1BCCB-AFAE-4349-8F1B-DE14683B64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544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40A0-05DB-4EC5-8D3B-09CA125B9092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1BCCB-AFAE-4349-8F1B-DE14683B64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04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40A0-05DB-4EC5-8D3B-09CA125B9092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1BCCB-AFAE-4349-8F1B-DE14683B64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588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40A0-05DB-4EC5-8D3B-09CA125B9092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1BCCB-AFAE-4349-8F1B-DE14683B64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158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40A0-05DB-4EC5-8D3B-09CA125B9092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1BCCB-AFAE-4349-8F1B-DE14683B64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481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40A0-05DB-4EC5-8D3B-09CA125B9092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1BCCB-AFAE-4349-8F1B-DE14683B64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91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C40A0-05DB-4EC5-8D3B-09CA125B9092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1BCCB-AFAE-4349-8F1B-DE14683B64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216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  <a:ea typeface="宋体" panose="02010600030101010101" pitchFamily="2" charset="-122"/>
              </a:defRPr>
            </a:lvl1pPr>
          </a:lstStyle>
          <a:p>
            <a:fld id="{57BC40A0-05DB-4EC5-8D3B-09CA125B9092}" type="datetimeFigureOut">
              <a:rPr lang="zh-CN" altLang="en-US" smtClean="0"/>
              <a:pPr/>
              <a:t>2026/1/13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ea typeface="宋体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ea typeface="宋体" panose="02010600030101010101" pitchFamily="2" charset="-122"/>
              </a:defRPr>
            </a:lvl1pPr>
          </a:lstStyle>
          <a:p>
            <a:fld id="{E361BCCB-AFAE-4349-8F1B-DE14683B64B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004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0C0849A-B7C4-49AF-F001-7B377FF206C8}"/>
              </a:ext>
            </a:extLst>
          </p:cNvPr>
          <p:cNvSpPr txBox="1">
            <a:spLocks/>
          </p:cNvSpPr>
          <p:nvPr/>
        </p:nvSpPr>
        <p:spPr>
          <a:xfrm>
            <a:off x="2207616" y="2246930"/>
            <a:ext cx="13872754" cy="5793140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你好，欢迎参加本实验！</a:t>
            </a:r>
            <a:endParaRPr lang="en-US" altLang="zh-CN" sz="3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在接下来在的任务中，每个试次你都会看到两个选项：树叶选项和钱包选项，以及各自对应的金额（人民币），每次出现的金额数量会不同。你需要在两个选项之间做出选择，按</a:t>
            </a:r>
            <a:r>
              <a:rPr lang="en-US" altLang="zh-CN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键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表示选择</a:t>
            </a:r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左边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的选项，按</a:t>
            </a:r>
            <a:r>
              <a:rPr lang="en-US" altLang="zh-CN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键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表示选择</a:t>
            </a:r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右边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的选项：</a:t>
            </a:r>
            <a:endParaRPr lang="en-US" altLang="zh-CN" sz="3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-571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树叶选项：将对应金额用于环保</a:t>
            </a:r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应对气候变化。</a:t>
            </a:r>
            <a:endParaRPr lang="en-US" altLang="zh-CN" sz="3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-571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钱包选项：表示你获得对应金额。</a:t>
            </a:r>
            <a:endParaRPr lang="en-US" altLang="zh-CN" sz="3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每个试次有</a:t>
            </a:r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秒的时间，如果不能在规定时间内做出选择，将会自动进入下一个试次。</a:t>
            </a:r>
            <a:endParaRPr lang="en-US" altLang="zh-CN" sz="3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D42C13-1A24-221D-45E9-40FAAB80E481}"/>
              </a:ext>
            </a:extLst>
          </p:cNvPr>
          <p:cNvSpPr txBox="1"/>
          <p:nvPr/>
        </p:nvSpPr>
        <p:spPr>
          <a:xfrm>
            <a:off x="4571993" y="287049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/>
                </a:solidFill>
                <a:ea typeface="宋体" panose="02010600030101010101" pitchFamily="2" charset="-122"/>
              </a:rPr>
              <a:t>指导语</a:t>
            </a:r>
            <a:endParaRPr lang="zh-CN" altLang="en-US" sz="66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7A7443E-7919-9680-AC15-23B49122888C}"/>
              </a:ext>
            </a:extLst>
          </p:cNvPr>
          <p:cNvSpPr txBox="1">
            <a:spLocks/>
          </p:cNvSpPr>
          <p:nvPr/>
        </p:nvSpPr>
        <p:spPr>
          <a:xfrm>
            <a:off x="548546" y="8935508"/>
            <a:ext cx="17190899" cy="928929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zh-CN" altLang="en-US" sz="4200" b="1" dirty="0">
                <a:solidFill>
                  <a:schemeClr val="bg1"/>
                </a:solidFill>
                <a:ea typeface="宋体" panose="02010600030101010101" pitchFamily="2" charset="-122"/>
              </a:rPr>
              <a:t>请按空格继续</a:t>
            </a:r>
          </a:p>
        </p:txBody>
      </p:sp>
    </p:spTree>
    <p:extLst>
      <p:ext uri="{BB962C8B-B14F-4D97-AF65-F5344CB8AC3E}">
        <p14:creationId xmlns:p14="http://schemas.microsoft.com/office/powerpoint/2010/main" val="2106131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CC1D7-B31A-D30F-F86B-A30B17A14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367DEF6-D6F7-FCA1-66C1-5E69C3E51664}"/>
              </a:ext>
            </a:extLst>
          </p:cNvPr>
          <p:cNvSpPr txBox="1">
            <a:spLocks/>
          </p:cNvSpPr>
          <p:nvPr/>
        </p:nvSpPr>
        <p:spPr>
          <a:xfrm>
            <a:off x="548551" y="4181501"/>
            <a:ext cx="17190899" cy="1923998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900"/>
              </a:spcBef>
            </a:pPr>
            <a:endParaRPr lang="zh-CN" altLang="en-US" sz="3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2BE8DE-0FE1-E4CE-537E-C71718CFC2A6}"/>
              </a:ext>
            </a:extLst>
          </p:cNvPr>
          <p:cNvSpPr txBox="1"/>
          <p:nvPr/>
        </p:nvSpPr>
        <p:spPr>
          <a:xfrm>
            <a:off x="4571993" y="287049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/>
                </a:solidFill>
                <a:ea typeface="宋体" panose="02010600030101010101" pitchFamily="2" charset="-122"/>
              </a:rPr>
              <a:t>指导语</a:t>
            </a:r>
            <a:endParaRPr lang="zh-CN" altLang="en-US" sz="66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B95CB2F-1F40-80A6-93E0-4047C9EA1F70}"/>
              </a:ext>
            </a:extLst>
          </p:cNvPr>
          <p:cNvSpPr txBox="1">
            <a:spLocks/>
          </p:cNvSpPr>
          <p:nvPr/>
        </p:nvSpPr>
        <p:spPr>
          <a:xfrm>
            <a:off x="548546" y="8935508"/>
            <a:ext cx="17190899" cy="928929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zh-CN" altLang="en-US" sz="4200" b="1" dirty="0">
                <a:solidFill>
                  <a:schemeClr val="bg1"/>
                </a:solidFill>
                <a:ea typeface="宋体" panose="02010600030101010101" pitchFamily="2" charset="-122"/>
              </a:rPr>
              <a:t>请按空格开始练习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8134C50C-CC83-194A-119B-0C5EE83B4E8D}"/>
              </a:ext>
            </a:extLst>
          </p:cNvPr>
          <p:cNvSpPr txBox="1">
            <a:spLocks/>
          </p:cNvSpPr>
          <p:nvPr/>
        </p:nvSpPr>
        <p:spPr>
          <a:xfrm>
            <a:off x="548546" y="4567781"/>
            <a:ext cx="17190899" cy="1023648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接下来的练习试次将帮助你进一步理解本实验。</a:t>
            </a:r>
          </a:p>
        </p:txBody>
      </p:sp>
    </p:spTree>
    <p:extLst>
      <p:ext uri="{BB962C8B-B14F-4D97-AF65-F5344CB8AC3E}">
        <p14:creationId xmlns:p14="http://schemas.microsoft.com/office/powerpoint/2010/main" val="1623293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BABD5-0B54-890F-2D96-8B408289F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34F6213-65C1-7D70-B74A-F47CB913A9A0}"/>
              </a:ext>
            </a:extLst>
          </p:cNvPr>
          <p:cNvSpPr txBox="1">
            <a:spLocks/>
          </p:cNvSpPr>
          <p:nvPr/>
        </p:nvSpPr>
        <p:spPr>
          <a:xfrm>
            <a:off x="548551" y="4181501"/>
            <a:ext cx="17190899" cy="1923998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900"/>
              </a:spcBef>
            </a:pPr>
            <a:endParaRPr lang="zh-CN" altLang="en-US" sz="3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B8C698-1BA8-6276-230B-67438BE32C50}"/>
              </a:ext>
            </a:extLst>
          </p:cNvPr>
          <p:cNvSpPr txBox="1"/>
          <p:nvPr/>
        </p:nvSpPr>
        <p:spPr>
          <a:xfrm>
            <a:off x="4571993" y="287049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/>
                </a:solidFill>
                <a:ea typeface="宋体" panose="02010600030101010101" pitchFamily="2" charset="-122"/>
              </a:rPr>
              <a:t>指导语</a:t>
            </a:r>
            <a:endParaRPr lang="zh-CN" altLang="en-US" sz="66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C1E03BC-CA23-7733-52B0-3E4DC2FE3ED0}"/>
              </a:ext>
            </a:extLst>
          </p:cNvPr>
          <p:cNvSpPr txBox="1">
            <a:spLocks/>
          </p:cNvSpPr>
          <p:nvPr/>
        </p:nvSpPr>
        <p:spPr>
          <a:xfrm>
            <a:off x="548546" y="8935508"/>
            <a:ext cx="17190899" cy="928929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zh-CN" altLang="en-US" sz="4200" b="1" dirty="0">
                <a:solidFill>
                  <a:schemeClr val="bg1"/>
                </a:solidFill>
                <a:ea typeface="宋体" panose="02010600030101010101" pitchFamily="2" charset="-122"/>
              </a:rPr>
              <a:t>请按空格继续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FD8263EC-DD91-75CB-0131-8E6CB1498112}"/>
              </a:ext>
            </a:extLst>
          </p:cNvPr>
          <p:cNvSpPr txBox="1">
            <a:spLocks/>
          </p:cNvSpPr>
          <p:nvPr/>
        </p:nvSpPr>
        <p:spPr>
          <a:xfrm>
            <a:off x="548546" y="4567781"/>
            <a:ext cx="17190899" cy="1023648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回答错误，请你重新开始练习。</a:t>
            </a:r>
          </a:p>
        </p:txBody>
      </p:sp>
    </p:spTree>
    <p:extLst>
      <p:ext uri="{BB962C8B-B14F-4D97-AF65-F5344CB8AC3E}">
        <p14:creationId xmlns:p14="http://schemas.microsoft.com/office/powerpoint/2010/main" val="222118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8551" y="4004826"/>
            <a:ext cx="17190899" cy="2277348"/>
          </a:xfrm>
          <a:ln>
            <a:noFill/>
          </a:ln>
        </p:spPr>
        <p:txBody>
          <a:bodyPr>
            <a:normAutofit/>
          </a:bodyPr>
          <a:lstStyle/>
          <a:p>
            <a:pPr marL="0" indent="0" algn="ctr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练习试次已结束，如你仍有疑问，可以重新阅读指导语</a:t>
            </a:r>
            <a:endParaRPr lang="en-US" altLang="zh-CN" sz="3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indent="0" algn="ctr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3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indent="0" algn="ctr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若已经理解了本实验，可以准备开始进入正式试次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571994" y="330182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指导语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BBE03D09-4703-2D78-7F12-1206C9AC35E5}"/>
              </a:ext>
            </a:extLst>
          </p:cNvPr>
          <p:cNvSpPr txBox="1">
            <a:spLocks/>
          </p:cNvSpPr>
          <p:nvPr/>
        </p:nvSpPr>
        <p:spPr>
          <a:xfrm>
            <a:off x="548546" y="8935508"/>
            <a:ext cx="17190899" cy="928929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zh-CN" altLang="en-US" sz="4200" b="1" dirty="0">
                <a:solidFill>
                  <a:schemeClr val="bg1"/>
                </a:solidFill>
                <a:ea typeface="宋体" panose="02010600030101010101" pitchFamily="2" charset="-122"/>
              </a:rPr>
              <a:t>请按空格继续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9525D-FC05-A127-161D-8A06DA02F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320727-A2E9-9ED7-766E-7BD98F487DB9}"/>
              </a:ext>
            </a:extLst>
          </p:cNvPr>
          <p:cNvSpPr txBox="1"/>
          <p:nvPr/>
        </p:nvSpPr>
        <p:spPr>
          <a:xfrm>
            <a:off x="4571993" y="287049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/>
                </a:solidFill>
                <a:ea typeface="宋体" panose="02010600030101010101" pitchFamily="2" charset="-122"/>
              </a:rPr>
              <a:t>指导语</a:t>
            </a:r>
            <a:endParaRPr lang="zh-CN" altLang="en-US" sz="66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EA596F7-0233-5869-62D1-3ED5E78F6457}"/>
              </a:ext>
            </a:extLst>
          </p:cNvPr>
          <p:cNvSpPr txBox="1">
            <a:spLocks/>
          </p:cNvSpPr>
          <p:nvPr/>
        </p:nvSpPr>
        <p:spPr>
          <a:xfrm>
            <a:off x="548546" y="8935508"/>
            <a:ext cx="17190899" cy="928929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zh-CN" altLang="en-US" sz="4200" b="1" dirty="0">
                <a:solidFill>
                  <a:schemeClr val="bg1"/>
                </a:solidFill>
                <a:ea typeface="宋体" panose="02010600030101010101" pitchFamily="2" charset="-122"/>
              </a:rPr>
              <a:t>请按空格继续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218D847-1774-2364-2647-863681EA8015}"/>
              </a:ext>
            </a:extLst>
          </p:cNvPr>
          <p:cNvSpPr txBox="1">
            <a:spLocks/>
          </p:cNvSpPr>
          <p:nvPr/>
        </p:nvSpPr>
        <p:spPr>
          <a:xfrm>
            <a:off x="2207623" y="2622428"/>
            <a:ext cx="13872754" cy="5042144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在接下来在的任务中，每个试次你都会看到两个选项：树叶选项和钱包选项，以及各自对应的金额（人民币），每次出现的金额数量会不同。你需要在两个选项之间做出选择，按</a:t>
            </a:r>
            <a:r>
              <a:rPr lang="en-US" altLang="zh-CN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键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表示选择</a:t>
            </a:r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左边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的选项，按</a:t>
            </a:r>
            <a:r>
              <a:rPr lang="en-US" altLang="zh-CN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键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表示选择</a:t>
            </a:r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右边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的选项：</a:t>
            </a:r>
            <a:endParaRPr lang="en-US" altLang="zh-CN" sz="3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-571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树叶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选项：将对应金额用于环保</a:t>
            </a:r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应对气候变化。</a:t>
            </a:r>
            <a:endParaRPr lang="en-US" altLang="zh-CN" sz="3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-571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钱包选项：表示你获得对应金额。</a:t>
            </a:r>
            <a:endParaRPr lang="en-US" altLang="zh-CN" sz="3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每个试次有</a:t>
            </a:r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秒的时间，如果不能在规定时间内做出选择，将会自动进入下一个试次。</a:t>
            </a:r>
            <a:endParaRPr lang="en-US" altLang="zh-CN" sz="36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168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1F324-F5F3-4443-56D5-EEEC5DA8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D4259D-0E46-414C-6718-ACD80D7BCC84}"/>
              </a:ext>
            </a:extLst>
          </p:cNvPr>
          <p:cNvSpPr txBox="1">
            <a:spLocks/>
          </p:cNvSpPr>
          <p:nvPr/>
        </p:nvSpPr>
        <p:spPr>
          <a:xfrm>
            <a:off x="548546" y="4567781"/>
            <a:ext cx="17190899" cy="1023648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接下来为正式试次，你的选择将被完整记录。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7CDD52-95D5-AEED-4CCC-F76F7E635A82}"/>
              </a:ext>
            </a:extLst>
          </p:cNvPr>
          <p:cNvSpPr txBox="1"/>
          <p:nvPr/>
        </p:nvSpPr>
        <p:spPr>
          <a:xfrm>
            <a:off x="4571993" y="287049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/>
                </a:solidFill>
                <a:ea typeface="宋体" panose="02010600030101010101" pitchFamily="2" charset="-122"/>
              </a:rPr>
              <a:t>指导语</a:t>
            </a:r>
            <a:endParaRPr lang="zh-CN" altLang="en-US" sz="66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4C3C506-4B0D-967C-B499-4ECCB8534AE2}"/>
              </a:ext>
            </a:extLst>
          </p:cNvPr>
          <p:cNvSpPr txBox="1">
            <a:spLocks/>
          </p:cNvSpPr>
          <p:nvPr/>
        </p:nvSpPr>
        <p:spPr>
          <a:xfrm>
            <a:off x="548546" y="8935508"/>
            <a:ext cx="17190899" cy="928929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zh-CN" altLang="en-US" sz="4200" b="1" dirty="0">
                <a:solidFill>
                  <a:schemeClr val="bg1"/>
                </a:solidFill>
                <a:ea typeface="宋体" panose="02010600030101010101" pitchFamily="2" charset="-122"/>
              </a:rPr>
              <a:t>请按空格开始正式试次</a:t>
            </a:r>
          </a:p>
        </p:txBody>
      </p:sp>
    </p:spTree>
    <p:extLst>
      <p:ext uri="{BB962C8B-B14F-4D97-AF65-F5344CB8AC3E}">
        <p14:creationId xmlns:p14="http://schemas.microsoft.com/office/powerpoint/2010/main" val="1968857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76EA1-37CE-B197-254D-8AC280E89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9AA6ED6-75EC-EC8E-A84D-B2CC89B823E5}"/>
              </a:ext>
            </a:extLst>
          </p:cNvPr>
          <p:cNvSpPr txBox="1">
            <a:spLocks/>
          </p:cNvSpPr>
          <p:nvPr/>
        </p:nvSpPr>
        <p:spPr>
          <a:xfrm>
            <a:off x="548546" y="4567781"/>
            <a:ext cx="17190899" cy="1023648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任务结束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2475CD-6B78-A98F-E90F-CAE19F58FA49}"/>
              </a:ext>
            </a:extLst>
          </p:cNvPr>
          <p:cNvSpPr txBox="1"/>
          <p:nvPr/>
        </p:nvSpPr>
        <p:spPr>
          <a:xfrm>
            <a:off x="4571993" y="287049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/>
                </a:solidFill>
                <a:ea typeface="宋体" panose="02010600030101010101" pitchFamily="2" charset="-122"/>
              </a:rPr>
              <a:t>指导语</a:t>
            </a:r>
            <a:endParaRPr lang="zh-CN" altLang="en-US" sz="66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EBC4900-B800-17EE-AC47-B548A664CC5C}"/>
              </a:ext>
            </a:extLst>
          </p:cNvPr>
          <p:cNvSpPr txBox="1">
            <a:spLocks/>
          </p:cNvSpPr>
          <p:nvPr/>
        </p:nvSpPr>
        <p:spPr>
          <a:xfrm>
            <a:off x="548546" y="8935508"/>
            <a:ext cx="17190899" cy="928929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zh-CN" altLang="en-US" sz="4200" b="1" dirty="0">
                <a:solidFill>
                  <a:schemeClr val="bg1"/>
                </a:solidFill>
                <a:ea typeface="宋体" panose="02010600030101010101" pitchFamily="2" charset="-122"/>
              </a:rPr>
              <a:t>请按空格退出</a:t>
            </a:r>
          </a:p>
        </p:txBody>
      </p:sp>
    </p:spTree>
    <p:extLst>
      <p:ext uri="{BB962C8B-B14F-4D97-AF65-F5344CB8AC3E}">
        <p14:creationId xmlns:p14="http://schemas.microsoft.com/office/powerpoint/2010/main" val="2275058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204</TotalTime>
  <Words>351</Words>
  <Application>Microsoft Office PowerPoint</Application>
  <PresentationFormat>自定义</PresentationFormat>
  <Paragraphs>30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宋体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皓 陈</dc:creator>
  <cp:lastModifiedBy>皓 陈</cp:lastModifiedBy>
  <cp:revision>115</cp:revision>
  <dcterms:created xsi:type="dcterms:W3CDTF">2025-11-06T09:38:01Z</dcterms:created>
  <dcterms:modified xsi:type="dcterms:W3CDTF">2026-01-13T14:24:11Z</dcterms:modified>
</cp:coreProperties>
</file>